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58200" y="0"/>
            <a:ext cx="3749039" cy="6858000"/>
          </a:xfrm>
          <a:prstGeom prst="rect">
            <a:avLst/>
          </a:prstGeom>
          <a:solidFill>
            <a:srgbClr val="1E2925"/>
          </a:solidFill>
          <a:ln>
            <a:solidFill>
              <a:srgbClr val="1E29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 rot="21180000">
            <a:off x="8961120" y="1417320"/>
            <a:ext cx="1600200" cy="3474720"/>
          </a:xfrm>
          <a:prstGeom prst="roundRect">
            <a:avLst/>
          </a:prstGeom>
          <a:solidFill>
            <a:srgbClr val="D7EF79"/>
          </a:solidFill>
          <a:ln>
            <a:solidFill>
              <a:srgbClr val="D7E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0" y="1828800"/>
            <a:ext cx="123444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244D3E"/>
                </a:solidFill>
                <a:latin typeface="Aptos Display"/>
              </a:rPr>
              <a:t>A</a:t>
            </a:r>
          </a:p>
          <a:p>
            <a:pPr algn="ctr">
              <a:spcAft>
                <a:spcPts val="500"/>
              </a:spcAft>
            </a:pPr>
            <a:r>
              <a:rPr sz="1800" b="1">
                <a:solidFill>
                  <a:srgbClr val="244D3E"/>
                </a:solidFill>
                <a:latin typeface="Aptos Display"/>
              </a:rPr>
              <a:t>STORY</a:t>
            </a:r>
          </a:p>
          <a:p>
            <a:pPr algn="ctr">
              <a:spcAft>
                <a:spcPts val="500"/>
              </a:spcAft>
            </a:pPr>
            <a:r>
              <a:rPr sz="1800" b="1">
                <a:solidFill>
                  <a:srgbClr val="244D3E"/>
                </a:solidFill>
                <a:latin typeface="Aptos Display"/>
              </a:rPr>
              <a:t>IN LIGHT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1618488"/>
            <a:ext cx="1600200" cy="3474720"/>
          </a:xfrm>
          <a:prstGeom prst="roundRect">
            <a:avLst/>
          </a:prstGeom>
          <a:solidFill>
            <a:srgbClr val="A9C69E"/>
          </a:solidFill>
          <a:ln>
            <a:solidFill>
              <a:srgbClr val="A9C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38360" y="2029968"/>
            <a:ext cx="123444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244D3E"/>
                </a:solidFill>
                <a:latin typeface="Aptos Display"/>
              </a:rPr>
              <a:t>THE</a:t>
            </a:r>
          </a:p>
          <a:p>
            <a:pPr algn="ctr">
              <a:spcAft>
                <a:spcPts val="500"/>
              </a:spcAft>
            </a:pPr>
            <a:r>
              <a:rPr sz="1800" b="1">
                <a:solidFill>
                  <a:srgbClr val="244D3E"/>
                </a:solidFill>
                <a:latin typeface="Aptos Display"/>
              </a:rPr>
              <a:t>QUIET</a:t>
            </a:r>
          </a:p>
          <a:p>
            <a:pPr algn="ctr">
              <a:spcAft>
                <a:spcPts val="500"/>
              </a:spcAft>
            </a:pPr>
            <a:r>
              <a:rPr sz="1800" b="1">
                <a:solidFill>
                  <a:srgbClr val="244D3E"/>
                </a:solidFill>
                <a:latin typeface="Aptos Display"/>
              </a:rPr>
              <a:t>SCENE</a:t>
            </a:r>
          </a:p>
        </p:txBody>
      </p:sp>
      <p:sp>
        <p:nvSpPr>
          <p:cNvPr id="7" name="Rounded Rectangle 6"/>
          <p:cNvSpPr/>
          <p:nvPr/>
        </p:nvSpPr>
        <p:spPr>
          <a:xfrm rot="420000">
            <a:off x="10149840" y="1819656"/>
            <a:ext cx="1600200" cy="3474720"/>
          </a:xfrm>
          <a:prstGeom prst="roundRect">
            <a:avLst/>
          </a:prstGeom>
          <a:solidFill>
            <a:srgbClr val="D78B57"/>
          </a:solidFill>
          <a:ln>
            <a:solidFill>
              <a:srgbClr val="D7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20" y="2231136"/>
            <a:ext cx="123444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244D3E"/>
                </a:solidFill>
                <a:latin typeface="Aptos Display"/>
              </a:rPr>
              <a:t>AFTER</a:t>
            </a:r>
          </a:p>
          <a:p>
            <a:pPr algn="ctr">
              <a:spcAft>
                <a:spcPts val="500"/>
              </a:spcAft>
            </a:pPr>
            <a:r>
              <a:rPr sz="1800" b="1">
                <a:solidFill>
                  <a:srgbClr val="244D3E"/>
                </a:solidFill>
                <a:latin typeface="Aptos Display"/>
              </a:rPr>
              <a:t>THE</a:t>
            </a:r>
          </a:p>
          <a:p>
            <a:pPr algn="ctr">
              <a:spcAft>
                <a:spcPts val="500"/>
              </a:spcAft>
            </a:pPr>
            <a:r>
              <a:rPr sz="1800" b="1">
                <a:solidFill>
                  <a:srgbClr val="244D3E"/>
                </a:solidFill>
                <a:latin typeface="Aptos Display"/>
              </a:rPr>
              <a:t>CREDITS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58368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dirty="0">
                <a:solidFill>
                  <a:srgbClr val="D7EF79"/>
                </a:solidFill>
                <a:latin typeface="Aptos"/>
              </a:rPr>
              <a:t>DISTRIBUTED </a:t>
            </a:r>
            <a:r>
              <a:rPr lang="en-IN" sz="1000" b="1">
                <a:solidFill>
                  <a:srgbClr val="D7EF79"/>
                </a:solidFill>
                <a:latin typeface="Aptos"/>
              </a:rPr>
              <a:t>COMPUTING</a:t>
            </a:r>
            <a:r>
              <a:rPr sz="1000" b="1">
                <a:solidFill>
                  <a:srgbClr val="D7EF79"/>
                </a:solidFill>
                <a:latin typeface="Aptos"/>
              </a:rPr>
              <a:t>  /  JAVA SOCKET PROGRAMMING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69494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900" b="1">
                <a:solidFill>
                  <a:srgbClr val="FFFFFF"/>
                </a:solidFill>
                <a:latin typeface="Aptos Display"/>
              </a:rPr>
              <a:t>FRAME</a:t>
            </a:r>
          </a:p>
          <a:p>
            <a:pPr algn="l">
              <a:spcAft>
                <a:spcPts val="500"/>
              </a:spcAft>
            </a:pPr>
            <a:r>
              <a:rPr sz="3900" b="1">
                <a:solidFill>
                  <a:srgbClr val="FFFFFF"/>
                </a:solidFill>
                <a:latin typeface="Aptos Display"/>
              </a:rPr>
              <a:t>BY 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20440"/>
            <a:ext cx="6583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0">
                <a:solidFill>
                  <a:srgbClr val="FFFFFF"/>
                </a:solidFill>
                <a:latin typeface="Aptos Display"/>
              </a:rPr>
              <a:t>A Letterboxd-inspired film diary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43400"/>
            <a:ext cx="6217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D9E4D8"/>
                </a:solidFill>
                <a:latin typeface="Aptos"/>
              </a:rPr>
              <a:t>Architecture study · Distributed paradigms · Working browser 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806440"/>
            <a:ext cx="4754880" cy="438912"/>
          </a:xfrm>
          <a:prstGeom prst="roundRect">
            <a:avLst/>
          </a:prstGeom>
          <a:solidFill>
            <a:srgbClr val="D7EF79"/>
          </a:solidFill>
          <a:ln>
            <a:solidFill>
              <a:srgbClr val="D7E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916168"/>
            <a:ext cx="43891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lang="en-IN" sz="1000" b="1" dirty="0">
                <a:solidFill>
                  <a:srgbClr val="244D3E"/>
                </a:solidFill>
                <a:latin typeface="Aptos"/>
              </a:rPr>
              <a:t>Srinidh</a:t>
            </a:r>
            <a:r>
              <a:rPr sz="1000" b="1" dirty="0">
                <a:solidFill>
                  <a:srgbClr val="244D3E"/>
                </a:solidFill>
                <a:latin typeface="Aptos"/>
              </a:rPr>
              <a:t>  23MCCE04    </a:t>
            </a:r>
            <a:r>
              <a:rPr lang="en-IN" sz="1000" b="1" dirty="0">
                <a:solidFill>
                  <a:srgbClr val="244D3E"/>
                </a:solidFill>
                <a:latin typeface="Aptos"/>
              </a:rPr>
              <a:t>Distributed Computing</a:t>
            </a:r>
            <a:endParaRPr sz="1000" b="1" dirty="0">
              <a:solidFill>
                <a:srgbClr val="244D3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4D3E"/>
          </a:solidFill>
          <a:ln>
            <a:solidFill>
              <a:srgbClr val="24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75827A"/>
                </a:solidFill>
                <a:latin typeface="Aptos"/>
              </a:rPr>
              <a:t>FRAME BY FRAME  / 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244D3E"/>
                </a:solidFill>
                <a:latin typeface="Aptos Display"/>
              </a:rPr>
              <a:t>Why build a film diary?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47104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75827A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5E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64008" cy="1874519"/>
          </a:xfrm>
          <a:prstGeom prst="rect">
            <a:avLst/>
          </a:prstGeom>
          <a:solidFill>
            <a:srgbClr val="244D3E"/>
          </a:solidFill>
          <a:ln>
            <a:solidFill>
              <a:srgbClr val="24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673351"/>
            <a:ext cx="3154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E2925"/>
                </a:solidFill>
                <a:latin typeface="Aptos Display"/>
              </a:rPr>
              <a:t>The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130552"/>
            <a:ext cx="3136392" cy="1142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5827A"/>
                </a:solidFill>
                <a:latin typeface="Aptos"/>
              </a:rPr>
              <a:t>Films are more than a watchlist: people keep ratings, diary dates, reviews, and recommendations.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50876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5E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25112" y="1508760"/>
            <a:ext cx="64008" cy="1874519"/>
          </a:xfrm>
          <a:prstGeom prst="rect">
            <a:avLst/>
          </a:prstGeom>
          <a:solidFill>
            <a:srgbClr val="D78B57"/>
          </a:solidFill>
          <a:ln>
            <a:solidFill>
              <a:srgbClr val="D7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673351"/>
            <a:ext cx="3154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E2925"/>
                </a:solidFill>
                <a:latin typeface="Aptos Display"/>
              </a:rPr>
              <a:t>The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30552"/>
            <a:ext cx="3136392" cy="1142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5827A"/>
                </a:solidFill>
                <a:latin typeface="Aptos"/>
              </a:rPr>
              <a:t>A social product coordinates accounts, shared film records, user events, and follower activity.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0876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5E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508760"/>
            <a:ext cx="64008" cy="1874519"/>
          </a:xfrm>
          <a:prstGeom prst="rect">
            <a:avLst/>
          </a:prstGeom>
          <a:solidFill>
            <a:srgbClr val="1E2925"/>
          </a:solidFill>
          <a:ln>
            <a:solidFill>
              <a:srgbClr val="1E29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673351"/>
            <a:ext cx="3154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E2925"/>
                </a:solidFill>
                <a:latin typeface="Aptos Display"/>
              </a:rPr>
              <a:t>The project 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130552"/>
            <a:ext cx="3136392" cy="1142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5827A"/>
                </a:solidFill>
                <a:latin typeface="Aptos"/>
              </a:rPr>
              <a:t>Build a smaller, testable version using Java TCP sockets and explain its scaling trade-offs.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840480"/>
            <a:ext cx="10972800" cy="1508760"/>
          </a:xfrm>
          <a:prstGeom prst="roundRect">
            <a:avLst/>
          </a:prstGeom>
          <a:solidFill>
            <a:srgbClr val="EEF3E9"/>
          </a:solidFill>
          <a:ln>
            <a:solidFill>
              <a:srgbClr val="EEF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221401"/>
            <a:ext cx="1033272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 dirty="0">
                <a:solidFill>
                  <a:srgbClr val="244D3E"/>
                </a:solidFill>
                <a:latin typeface="Aptos Display"/>
              </a:rPr>
              <a:t>Not a clone of Letterboxd internals. A  prototype that borrows the product idea, implements an inspectable distributed design, and marks unknowns honestly.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4D3E"/>
          </a:solidFill>
          <a:ln>
            <a:solidFill>
              <a:srgbClr val="24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75827A"/>
                </a:solidFill>
                <a:latin typeface="Aptos"/>
              </a:rPr>
              <a:t>FRAME BY FRAME  / 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244D3E"/>
                </a:solidFill>
                <a:latin typeface="Aptos Display"/>
              </a:rPr>
              <a:t>A focused slice of a much larger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47104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75827A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5E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64008" cy="1691640"/>
          </a:xfrm>
          <a:prstGeom prst="rect">
            <a:avLst/>
          </a:prstGeom>
          <a:solidFill>
            <a:srgbClr val="244D3E"/>
          </a:solidFill>
          <a:ln>
            <a:solidFill>
              <a:srgbClr val="24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581912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E2925"/>
                </a:solidFill>
                <a:latin typeface="Aptos Display"/>
              </a:rPr>
              <a:t>01   Browse &amp;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39112"/>
            <a:ext cx="309067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5827A"/>
                </a:solidFill>
                <a:latin typeface="Aptos"/>
              </a:rPr>
              <a:t>Seeded film catalog and genre filters.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5E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64008" cy="1691640"/>
          </a:xfrm>
          <a:prstGeom prst="rect">
            <a:avLst/>
          </a:prstGeom>
          <a:solidFill>
            <a:srgbClr val="D78B57"/>
          </a:solidFill>
          <a:ln>
            <a:solidFill>
              <a:srgbClr val="D7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581912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E2925"/>
                </a:solidFill>
                <a:latin typeface="Aptos Display"/>
              </a:rPr>
              <a:t>02   Log a watch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039112"/>
            <a:ext cx="309067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5827A"/>
                </a:solidFill>
                <a:latin typeface="Aptos"/>
              </a:rPr>
              <a:t>Date, 1–5 rating, optional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141732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5E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59" y="1417320"/>
            <a:ext cx="64008" cy="1691640"/>
          </a:xfrm>
          <a:prstGeom prst="rect">
            <a:avLst/>
          </a:prstGeom>
          <a:solidFill>
            <a:srgbClr val="1E2925"/>
          </a:solidFill>
          <a:ln>
            <a:solidFill>
              <a:srgbClr val="1E29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9327" y="1581912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E2925"/>
                </a:solidFill>
                <a:latin typeface="Aptos Display"/>
              </a:rPr>
              <a:t>03   Keep a diary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2039112"/>
            <a:ext cx="309067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5827A"/>
                </a:solidFill>
                <a:latin typeface="Aptos"/>
              </a:rPr>
              <a:t>Personal history and summary statistics.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20439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5E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520439"/>
            <a:ext cx="64008" cy="1691640"/>
          </a:xfrm>
          <a:prstGeom prst="rect">
            <a:avLst/>
          </a:prstGeom>
          <a:solidFill>
            <a:srgbClr val="244D3E"/>
          </a:solidFill>
          <a:ln>
            <a:solidFill>
              <a:srgbClr val="24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" y="3685031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E2925"/>
                </a:solidFill>
                <a:latin typeface="Aptos Display"/>
              </a:rPr>
              <a:t>04   Find people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142231"/>
            <a:ext cx="309067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5827A"/>
                </a:solidFill>
                <a:latin typeface="Aptos"/>
              </a:rPr>
              <a:t>Public diary lookup by username.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520439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5E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89120" y="3520439"/>
            <a:ext cx="64008" cy="1691640"/>
          </a:xfrm>
          <a:prstGeom prst="rect">
            <a:avLst/>
          </a:prstGeom>
          <a:solidFill>
            <a:srgbClr val="D78B57"/>
          </a:solidFill>
          <a:ln>
            <a:solidFill>
              <a:srgbClr val="D7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90288" y="3685031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E2925"/>
                </a:solidFill>
                <a:latin typeface="Aptos Display"/>
              </a:rPr>
              <a:t>05   Follow activity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4142231"/>
            <a:ext cx="309067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5827A"/>
                </a:solidFill>
                <a:latin typeface="Aptos"/>
              </a:rPr>
              <a:t>Follow/unfollow and view an activity feed.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59" y="3520439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5E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38159" y="3520439"/>
            <a:ext cx="64008" cy="1691640"/>
          </a:xfrm>
          <a:prstGeom prst="rect">
            <a:avLst/>
          </a:prstGeom>
          <a:solidFill>
            <a:srgbClr val="1E2925"/>
          </a:solidFill>
          <a:ln>
            <a:solidFill>
              <a:srgbClr val="1E29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39327" y="3685031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E2925"/>
                </a:solidFill>
                <a:latin typeface="Aptos Display"/>
              </a:rPr>
              <a:t>06   Authenticate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4142231"/>
            <a:ext cx="309067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5827A"/>
                </a:solidFill>
                <a:latin typeface="Aptos"/>
              </a:rPr>
              <a:t>Register, login, server-issued token, logout.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9788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75827A"/>
                </a:solidFill>
                <a:latin typeface="Aptos"/>
              </a:rPr>
              <a:t>Browser UI  →  Java gateway  →  TCP socket services     |     No external API or poster assets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4D3E"/>
          </a:solidFill>
          <a:ln>
            <a:solidFill>
              <a:srgbClr val="24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75827A"/>
                </a:solidFill>
                <a:latin typeface="Aptos"/>
              </a:rPr>
              <a:t>FRAME BY FRAME  / 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244D3E"/>
                </a:solidFill>
                <a:latin typeface="Aptos Display"/>
              </a:rPr>
              <a:t>System architecture: one request, multiple hops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47104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75827A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1600200" cy="914400"/>
          </a:xfrm>
          <a:prstGeom prst="roundRect">
            <a:avLst/>
          </a:prstGeom>
          <a:solidFill>
            <a:srgbClr val="1E2925"/>
          </a:solidFill>
          <a:ln>
            <a:solidFill>
              <a:srgbClr val="1E29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244144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BROWSER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2148840"/>
            <a:ext cx="1783080" cy="914400"/>
          </a:xfrm>
          <a:prstGeom prst="roundRect">
            <a:avLst/>
          </a:prstGeom>
          <a:solidFill>
            <a:srgbClr val="D78B57"/>
          </a:solidFill>
          <a:ln>
            <a:solidFill>
              <a:srgbClr val="D7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61488" y="2377440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WEB</a:t>
            </a:r>
          </a:p>
          <a:p>
            <a:pPr algn="ctr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GATEWAY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2148840"/>
            <a:ext cx="1691640" cy="914400"/>
          </a:xfrm>
          <a:prstGeom prst="roundRect">
            <a:avLst/>
          </a:prstGeom>
          <a:solidFill>
            <a:srgbClr val="244D3E"/>
          </a:solidFill>
          <a:ln>
            <a:solidFill>
              <a:srgbClr val="24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47488" y="2450592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LOAD BALANCER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1417320"/>
            <a:ext cx="1920240" cy="749808"/>
          </a:xfrm>
          <a:prstGeom prst="roundRect">
            <a:avLst/>
          </a:prstGeom>
          <a:solidFill>
            <a:srgbClr val="67896E"/>
          </a:solidFill>
          <a:ln>
            <a:solidFill>
              <a:srgbClr val="678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69480" y="164592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APP SERVER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3044952"/>
            <a:ext cx="1920240" cy="749808"/>
          </a:xfrm>
          <a:prstGeom prst="roundRect">
            <a:avLst/>
          </a:prstGeom>
          <a:solidFill>
            <a:srgbClr val="67896E"/>
          </a:solidFill>
          <a:ln>
            <a:solidFill>
              <a:srgbClr val="678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69480" y="327355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APP SERVER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20" y="2148840"/>
            <a:ext cx="1965960" cy="914400"/>
          </a:xfrm>
          <a:prstGeom prst="roundRect">
            <a:avLst/>
          </a:prstGeom>
          <a:solidFill>
            <a:srgbClr val="1E2925"/>
          </a:solidFill>
          <a:ln>
            <a:solidFill>
              <a:srgbClr val="1E29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29800" y="2432304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DATABASE</a:t>
            </a:r>
          </a:p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SERVER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103120" y="2606040"/>
            <a:ext cx="475488" cy="0"/>
          </a:xfrm>
          <a:prstGeom prst="line">
            <a:avLst/>
          </a:prstGeom>
          <a:ln w="25400">
            <a:solidFill>
              <a:srgbClr val="D7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407408" y="2606040"/>
            <a:ext cx="457200" cy="0"/>
          </a:xfrm>
          <a:prstGeom prst="line">
            <a:avLst/>
          </a:prstGeom>
          <a:ln w="25400">
            <a:solidFill>
              <a:srgbClr val="244D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583680" y="1810512"/>
            <a:ext cx="475488" cy="676656"/>
          </a:xfrm>
          <a:prstGeom prst="line">
            <a:avLst/>
          </a:prstGeom>
          <a:ln w="25400">
            <a:solidFill>
              <a:srgbClr val="244D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583680" y="2743200"/>
            <a:ext cx="475488" cy="658368"/>
          </a:xfrm>
          <a:prstGeom prst="line">
            <a:avLst/>
          </a:prstGeom>
          <a:ln w="25400">
            <a:solidFill>
              <a:srgbClr val="244D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034272" y="1810512"/>
            <a:ext cx="585216" cy="612648"/>
          </a:xfrm>
          <a:prstGeom prst="line">
            <a:avLst/>
          </a:prstGeom>
          <a:ln w="25400">
            <a:solidFill>
              <a:srgbClr val="244D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034272" y="2761488"/>
            <a:ext cx="585216" cy="640080"/>
          </a:xfrm>
          <a:prstGeom prst="line">
            <a:avLst/>
          </a:prstGeom>
          <a:ln w="25400">
            <a:solidFill>
              <a:srgbClr val="244D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1520" y="4297680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244D3E"/>
                </a:solidFill>
                <a:latin typeface="Aptos Display"/>
              </a:rPr>
              <a:t>HTTP is only the local browser adapter (browsers cannot open raw TCP sockets). Between Java tiers: TCP + newline-delimited JSON.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86400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0">
                <a:solidFill>
                  <a:srgbClr val="75827A"/>
                </a:solidFill>
                <a:latin typeface="Aptos"/>
              </a:rPr>
              <a:t>DB server owns primary writes, replica reads, in-memory sessions, and delayed mirror worker.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4D3E"/>
          </a:solidFill>
          <a:ln>
            <a:solidFill>
              <a:srgbClr val="24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75827A"/>
                </a:solidFill>
                <a:latin typeface="Aptos"/>
              </a:rPr>
              <a:t>FRAME BY FRAME  / 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244D3E"/>
                </a:solidFill>
                <a:latin typeface="Aptos Display"/>
              </a:rPr>
              <a:t>Socket programming: the wire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47104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75827A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5E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64008" cy="1965960"/>
          </a:xfrm>
          <a:prstGeom prst="rect">
            <a:avLst/>
          </a:prstGeom>
          <a:solidFill>
            <a:srgbClr val="244D3E"/>
          </a:solidFill>
          <a:ln>
            <a:solidFill>
              <a:srgbClr val="24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581912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E2925"/>
                </a:solidFill>
                <a:latin typeface="Aptos Display"/>
              </a:rPr>
              <a:t>1  Build 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39112"/>
            <a:ext cx="2999232" cy="1234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5827A"/>
                </a:solidFill>
                <a:latin typeface="Aptos"/>
              </a:rPr>
              <a:t>Example: {"type":"LOG_FILM", "filmId": 2, ...}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75827A"/>
                </a:solidFill>
                <a:latin typeface="Aptos"/>
              </a:rPr>
              <a:t>One object per request.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5E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64008" cy="1965960"/>
          </a:xfrm>
          <a:prstGeom prst="rect">
            <a:avLst/>
          </a:prstGeom>
          <a:solidFill>
            <a:srgbClr val="D78B57"/>
          </a:solidFill>
          <a:ln>
            <a:solidFill>
              <a:srgbClr val="D7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581912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E2925"/>
                </a:solidFill>
                <a:latin typeface="Aptos Display"/>
              </a:rPr>
              <a:t>2  Send a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039112"/>
            <a:ext cx="2999232" cy="1234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5827A"/>
                </a:solidFill>
                <a:latin typeface="Aptos"/>
              </a:rPr>
              <a:t>Java Socket + PrintWriter sends UTF-8 JSON followed by a newline.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1732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5E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417320"/>
            <a:ext cx="64008" cy="1965960"/>
          </a:xfrm>
          <a:prstGeom prst="rect">
            <a:avLst/>
          </a:prstGeom>
          <a:solidFill>
            <a:srgbClr val="1E2925"/>
          </a:solidFill>
          <a:ln>
            <a:solidFill>
              <a:srgbClr val="1E29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9328" y="1581912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E2925"/>
                </a:solidFill>
                <a:latin typeface="Aptos Display"/>
              </a:rPr>
              <a:t>3  Read a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039112"/>
            <a:ext cx="2999232" cy="1234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5827A"/>
                </a:solidFill>
                <a:latin typeface="Aptos"/>
              </a:rPr>
              <a:t>Server routes the request and replies with one JSON line: OK or ERROR.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50791" y="2377440"/>
            <a:ext cx="292609" cy="0"/>
          </a:xfrm>
          <a:prstGeom prst="line">
            <a:avLst/>
          </a:prstGeom>
          <a:ln w="25400">
            <a:solidFill>
              <a:srgbClr val="244D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799831" y="2377440"/>
            <a:ext cx="292609" cy="0"/>
          </a:xfrm>
          <a:prstGeom prst="line">
            <a:avLst/>
          </a:prstGeom>
          <a:ln w="25400">
            <a:solidFill>
              <a:srgbClr val="244D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0080" y="3840480"/>
            <a:ext cx="10881360" cy="1298448"/>
          </a:xfrm>
          <a:prstGeom prst="roundRect">
            <a:avLst/>
          </a:prstGeom>
          <a:solidFill>
            <a:srgbClr val="EEF3E9"/>
          </a:solidFill>
          <a:ln>
            <a:solidFill>
              <a:srgbClr val="EEF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142232"/>
            <a:ext cx="10332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244D3E"/>
                </a:solidFill>
                <a:latin typeface="Aptos Display"/>
              </a:rPr>
              <a:t>LOGIN returns an opaque token. Diary, feed, follow, and log requests carry that token; the data tier checks it against the claimed username.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715000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0">
                <a:solidFill>
                  <a:srgbClr val="75827A"/>
                </a:solidFill>
                <a:latin typeface="Aptos"/>
              </a:rPr>
              <a:t>Protocol code: protocol/Message.java · RequestRouter.java · ConnectionHandler.java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4D3E"/>
          </a:solidFill>
          <a:ln>
            <a:solidFill>
              <a:srgbClr val="24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75827A"/>
                </a:solidFill>
                <a:latin typeface="Aptos"/>
              </a:rPr>
              <a:t>FRAME BY FRAME  / 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244D3E"/>
                </a:solidFill>
                <a:latin typeface="Aptos Display"/>
              </a:rPr>
              <a:t>The interface: a real browser front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47104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75827A"/>
                </a:solidFill>
                <a:latin typeface="Aptos"/>
              </a:rPr>
              <a:t>06</a:t>
            </a:r>
          </a:p>
        </p:txBody>
      </p:sp>
      <p:pic>
        <p:nvPicPr>
          <p:cNvPr id="6" name="Picture 5" descr="01-dis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53312"/>
            <a:ext cx="6812280" cy="47307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80960" y="1600200"/>
            <a:ext cx="38404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5E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80960" y="1600200"/>
            <a:ext cx="64008" cy="1188720"/>
          </a:xfrm>
          <a:prstGeom prst="rect">
            <a:avLst/>
          </a:prstGeom>
          <a:solidFill>
            <a:srgbClr val="244D3E"/>
          </a:solidFill>
          <a:ln>
            <a:solidFill>
              <a:srgbClr val="24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82128" y="1764792"/>
            <a:ext cx="3474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E2925"/>
                </a:solidFill>
                <a:latin typeface="Aptos Display"/>
              </a:rP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8" y="2221992"/>
            <a:ext cx="34564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5827A"/>
                </a:solidFill>
                <a:latin typeface="Aptos"/>
              </a:rPr>
              <a:t>Search, genre filters, film cards.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2971800"/>
            <a:ext cx="38404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5E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80960" y="2971800"/>
            <a:ext cx="64008" cy="1188720"/>
          </a:xfrm>
          <a:prstGeom prst="rect">
            <a:avLst/>
          </a:prstGeom>
          <a:solidFill>
            <a:srgbClr val="D78B57"/>
          </a:solidFill>
          <a:ln>
            <a:solidFill>
              <a:srgbClr val="D7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82128" y="3136392"/>
            <a:ext cx="3474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E2925"/>
                </a:solidFill>
                <a:latin typeface="Aptos Display"/>
              </a:rPr>
              <a:t>Diary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3593592"/>
            <a:ext cx="34564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5827A"/>
                </a:solidFill>
                <a:latin typeface="Aptos"/>
              </a:rPr>
              <a:t>Ratings, dates, reviews, stats.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4343400"/>
            <a:ext cx="38404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5E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80960" y="4343400"/>
            <a:ext cx="64008" cy="1188720"/>
          </a:xfrm>
          <a:prstGeom prst="rect">
            <a:avLst/>
          </a:prstGeom>
          <a:solidFill>
            <a:srgbClr val="1E2925"/>
          </a:solidFill>
          <a:ln>
            <a:solidFill>
              <a:srgbClr val="1E29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82128" y="4507992"/>
            <a:ext cx="3474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E2925"/>
                </a:solidFill>
                <a:latin typeface="Aptos Display"/>
              </a:rPr>
              <a:t>People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8" y="4965192"/>
            <a:ext cx="34564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5827A"/>
                </a:solidFill>
                <a:latin typeface="Aptos"/>
              </a:rPr>
              <a:t>Follow and public diary lookup.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4D3E"/>
          </a:solidFill>
          <a:ln>
            <a:solidFill>
              <a:srgbClr val="24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75827A"/>
                </a:solidFill>
                <a:latin typeface="Aptos"/>
              </a:rPr>
              <a:t>FRAME BY FRAME  / 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244D3E"/>
                </a:solidFill>
                <a:latin typeface="Aptos Display"/>
              </a:rPr>
              <a:t>Distributed paradigms visible in the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47104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75827A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5E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4008" cy="1828800"/>
          </a:xfrm>
          <a:prstGeom prst="rect">
            <a:avLst/>
          </a:prstGeom>
          <a:solidFill>
            <a:srgbClr val="244D3E"/>
          </a:solidFill>
          <a:ln>
            <a:solidFill>
              <a:srgbClr val="24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58191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E2925"/>
                </a:solidFill>
                <a:latin typeface="Aptos Display"/>
              </a:rPr>
              <a:t>Horizontal scale-out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30449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5827A"/>
                </a:solidFill>
                <a:latin typeface="Aptos"/>
              </a:rPr>
              <a:t>Two interchangeable app-server instances share the same database service.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5E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64008" cy="1828800"/>
          </a:xfrm>
          <a:prstGeom prst="rect">
            <a:avLst/>
          </a:prstGeom>
          <a:solidFill>
            <a:srgbClr val="D78B57"/>
          </a:solidFill>
          <a:ln>
            <a:solidFill>
              <a:srgbClr val="D7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58191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E2925"/>
                </a:solidFill>
                <a:latin typeface="Aptos Display"/>
              </a:rPr>
              <a:t>Primary / replica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039112"/>
            <a:ext cx="30449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5827A"/>
                </a:solidFill>
                <a:latin typeface="Aptos"/>
              </a:rPr>
              <a:t>Writes go to primary; reads use replica. Delayed copying makes stale reads visible.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5E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64008" cy="1828800"/>
          </a:xfrm>
          <a:prstGeom prst="rect">
            <a:avLst/>
          </a:prstGeom>
          <a:solidFill>
            <a:srgbClr val="1E2925"/>
          </a:solidFill>
          <a:ln>
            <a:solidFill>
              <a:srgbClr val="1E29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58191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E2925"/>
                </a:solidFill>
                <a:latin typeface="Aptos Display"/>
              </a:rPr>
              <a:t>RPC over sockets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039112"/>
            <a:ext cx="30449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5827A"/>
                </a:solidFill>
                <a:latin typeface="Aptos"/>
              </a:rPr>
              <a:t>A DB method call crosses a network boundary and can time out or fail.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94760"/>
            <a:ext cx="10835640" cy="1325880"/>
          </a:xfrm>
          <a:prstGeom prst="roundRect">
            <a:avLst/>
          </a:prstGeom>
          <a:solidFill>
            <a:srgbClr val="EEF3E9"/>
          </a:solidFill>
          <a:ln>
            <a:solidFill>
              <a:srgbClr val="EEF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041648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244D3E"/>
                </a:solidFill>
                <a:latin typeface="Aptos Display"/>
              </a:rPr>
              <a:t>Important distinction: these are prototype decisions. Public Letterboxd sources do not confirm the company's exact deployment or algorithms.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4D3E"/>
          </a:solidFill>
          <a:ln>
            <a:solidFill>
              <a:srgbClr val="24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75827A"/>
                </a:solidFill>
                <a:latin typeface="Aptos"/>
              </a:rPr>
              <a:t>FRAME BY FRAME  / 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244D3E"/>
                </a:solidFill>
                <a:latin typeface="Aptos Display"/>
              </a:rPr>
              <a:t>Algorithms and the trade-offs they expose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47104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75827A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83564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5E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44D3E"/>
                </a:solidFill>
                <a:latin typeface="Aptos"/>
              </a:rPr>
              <a:t>Round robin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572768"/>
            <a:ext cx="374903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A342F"/>
                </a:solidFill>
                <a:latin typeface="Aptos"/>
              </a:rPr>
              <a:t>Atomic counter mod backend 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1572768"/>
            <a:ext cx="4297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5827A"/>
                </a:solidFill>
                <a:latin typeface="Aptos"/>
              </a:rPr>
              <a:t>Simple and even; no health checks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15768"/>
            <a:ext cx="1083564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5E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44D3E"/>
                </a:solidFill>
                <a:latin typeface="Aptos"/>
              </a:rPr>
              <a:t>Async replication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871215"/>
            <a:ext cx="374903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A342F"/>
                </a:solidFill>
                <a:latin typeface="Aptos"/>
              </a:rPr>
              <a:t>DelayQueue + worker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871215"/>
            <a:ext cx="4297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5827A"/>
                </a:solidFill>
                <a:latin typeface="Aptos"/>
              </a:rPr>
              <a:t>Fast write response; stale replica reads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014215"/>
            <a:ext cx="1083564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5E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178807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44D3E"/>
                </a:solidFill>
                <a:latin typeface="Aptos"/>
              </a:rPr>
              <a:t>Feed fan-out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4169663"/>
            <a:ext cx="374903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A342F"/>
                </a:solidFill>
                <a:latin typeface="Aptos"/>
              </a:rPr>
              <a:t>Push entry to follower feeds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4169663"/>
            <a:ext cx="4297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5827A"/>
                </a:solidFill>
                <a:latin typeface="Aptos"/>
              </a:rPr>
              <a:t>Fast feed reads; costly popular accounts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440680"/>
            <a:ext cx="10835640" cy="594360"/>
          </a:xfrm>
          <a:prstGeom prst="roundRect">
            <a:avLst/>
          </a:prstGeom>
          <a:solidFill>
            <a:srgbClr val="1E2925"/>
          </a:solidFill>
          <a:ln>
            <a:solidFill>
              <a:srgbClr val="1E29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596128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No consensus, health-aware failover, sharding, or exactly-once delivery is implemented.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4D3E"/>
          </a:solidFill>
          <a:ln>
            <a:solidFill>
              <a:srgbClr val="24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75827A"/>
                </a:solidFill>
                <a:latin typeface="Aptos"/>
              </a:rPr>
              <a:t>FRAME BY FRAME  / 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244D3E"/>
                </a:solidFill>
                <a:latin typeface="Aptos Display"/>
              </a:rPr>
              <a:t>Functional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47104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75827A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310896" cy="310896"/>
          </a:xfrm>
          <a:prstGeom prst="roundRect">
            <a:avLst/>
          </a:prstGeom>
          <a:solidFill>
            <a:srgbClr val="D7EF79"/>
          </a:solidFill>
          <a:ln>
            <a:solidFill>
              <a:srgbClr val="D7E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1362456"/>
            <a:ext cx="137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244D3E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25880"/>
            <a:ext cx="1463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244D3E"/>
                </a:solidFill>
                <a:latin typeface="Aptos"/>
              </a:rPr>
              <a:t>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325880"/>
            <a:ext cx="79552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A342F"/>
                </a:solidFill>
                <a:latin typeface="Aptos"/>
              </a:rPr>
              <a:t>Compile all Java sources with included Gson + SQLite JDBC.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67128"/>
            <a:ext cx="310896" cy="310896"/>
          </a:xfrm>
          <a:prstGeom prst="roundRect">
            <a:avLst/>
          </a:prstGeom>
          <a:solidFill>
            <a:srgbClr val="D7EF79"/>
          </a:solidFill>
          <a:ln>
            <a:solidFill>
              <a:srgbClr val="D7E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256" y="2203704"/>
            <a:ext cx="137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244D3E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167128"/>
            <a:ext cx="1463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244D3E"/>
                </a:solidFill>
                <a:latin typeface="Aptos"/>
              </a:rPr>
              <a:t>Account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167128"/>
            <a:ext cx="79552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A342F"/>
                </a:solidFill>
                <a:latin typeface="Aptos"/>
              </a:rPr>
              <a:t>Register, login, duplicate rejection, and logout.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008376"/>
            <a:ext cx="310896" cy="310896"/>
          </a:xfrm>
          <a:prstGeom prst="roundRect">
            <a:avLst/>
          </a:prstGeom>
          <a:solidFill>
            <a:srgbClr val="D7EF79"/>
          </a:solidFill>
          <a:ln>
            <a:solidFill>
              <a:srgbClr val="D7E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5256" y="3044952"/>
            <a:ext cx="137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244D3E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008376"/>
            <a:ext cx="1463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244D3E"/>
                </a:solidFill>
                <a:latin typeface="Aptos"/>
              </a:rPr>
              <a:t>Diary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008376"/>
            <a:ext cx="79552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A342F"/>
                </a:solidFill>
                <a:latin typeface="Aptos"/>
              </a:rPr>
              <a:t>Log film → wait replica lag → reload personal diary.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849624"/>
            <a:ext cx="310896" cy="310896"/>
          </a:xfrm>
          <a:prstGeom prst="roundRect">
            <a:avLst/>
          </a:prstGeom>
          <a:solidFill>
            <a:srgbClr val="D7EF79"/>
          </a:solidFill>
          <a:ln>
            <a:solidFill>
              <a:srgbClr val="D7E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5256" y="3886200"/>
            <a:ext cx="137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244D3E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849624"/>
            <a:ext cx="1463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244D3E"/>
                </a:solidFill>
                <a:latin typeface="Aptos"/>
              </a:rPr>
              <a:t>Social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849624"/>
            <a:ext cx="79552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A342F"/>
                </a:solidFill>
                <a:latin typeface="Aptos"/>
              </a:rPr>
              <a:t>Use two accounts → follow → inspect feed → unfollow.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690872"/>
            <a:ext cx="310896" cy="310896"/>
          </a:xfrm>
          <a:prstGeom prst="roundRect">
            <a:avLst/>
          </a:prstGeom>
          <a:solidFill>
            <a:srgbClr val="D7EF79"/>
          </a:solidFill>
          <a:ln>
            <a:solidFill>
              <a:srgbClr val="D7E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5256" y="4727448"/>
            <a:ext cx="137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244D3E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690872"/>
            <a:ext cx="1463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244D3E"/>
                </a:solidFill>
                <a:latin typeface="Aptos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4690872"/>
            <a:ext cx="79552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A342F"/>
                </a:solidFill>
                <a:latin typeface="Aptos"/>
              </a:rPr>
              <a:t>Stop a service → confirm UI shows a useful error.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852160"/>
            <a:ext cx="10424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0">
                <a:solidFill>
                  <a:srgbClr val="75827A"/>
                </a:solidFill>
                <a:latin typeface="Aptos"/>
              </a:rPr>
              <a:t>Run with start_demo.bat; observe all five service terminals and the browser UI.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4D3E"/>
          </a:solidFill>
          <a:ln>
            <a:solidFill>
              <a:srgbClr val="24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75827A"/>
                </a:solidFill>
                <a:latin typeface="Aptos"/>
              </a:rPr>
              <a:t>FRAME BY FRAME  / 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244D3E"/>
                </a:solidFill>
                <a:latin typeface="Aptos Display"/>
              </a:rPr>
              <a:t>Limitations are part of the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47104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75827A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5E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4008" cy="1691640"/>
          </a:xfrm>
          <a:prstGeom prst="rect">
            <a:avLst/>
          </a:prstGeom>
          <a:solidFill>
            <a:srgbClr val="D78B57"/>
          </a:solidFill>
          <a:ln>
            <a:solidFill>
              <a:srgbClr val="D7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581912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E2925"/>
                </a:solidFill>
                <a:latin typeface="Aptos Display"/>
              </a:rPr>
              <a:t>Availability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487375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5827A"/>
                </a:solidFill>
                <a:latin typeface="Aptos"/>
              </a:rPr>
              <a:t>Round robin can route to a dead backend. No health checks, retries, or failover.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5E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64008" cy="1691640"/>
          </a:xfrm>
          <a:prstGeom prst="rect">
            <a:avLst/>
          </a:prstGeom>
          <a:solidFill>
            <a:srgbClr val="244D3E"/>
          </a:solidFill>
          <a:ln>
            <a:solidFill>
              <a:srgbClr val="24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581912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E2925"/>
                </a:solidFill>
                <a:latin typeface="Aptos Display"/>
              </a:rPr>
              <a:t>Consistency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039112"/>
            <a:ext cx="487375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5827A"/>
                </a:solidFill>
                <a:latin typeface="Aptos"/>
              </a:rPr>
              <a:t>Replica lag can hide a new entry for a short time. The queue is not durable.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29000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5E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429000"/>
            <a:ext cx="64008" cy="1691640"/>
          </a:xfrm>
          <a:prstGeom prst="rect">
            <a:avLst/>
          </a:prstGeom>
          <a:solidFill>
            <a:srgbClr val="1E2925"/>
          </a:solidFill>
          <a:ln>
            <a:solidFill>
              <a:srgbClr val="1E29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3593592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E2925"/>
                </a:solidFill>
                <a:latin typeface="Aptos Display"/>
              </a:rPr>
              <a:t>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050791"/>
            <a:ext cx="487375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5827A"/>
                </a:solidFill>
                <a:latin typeface="Aptos"/>
              </a:rPr>
              <a:t>Local demo only: no TLS, token expiry, rate limits, or production-grade password hashing.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29000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5E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429000"/>
            <a:ext cx="64008" cy="1691640"/>
          </a:xfrm>
          <a:prstGeom prst="rect">
            <a:avLst/>
          </a:prstGeom>
          <a:solidFill>
            <a:srgbClr val="244D3E"/>
          </a:solidFill>
          <a:ln>
            <a:solidFill>
              <a:srgbClr val="24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3593592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E2925"/>
                </a:solidFill>
                <a:latin typeface="Aptos Display"/>
              </a:rPr>
              <a:t>Data 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050791"/>
            <a:ext cx="487375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75827A"/>
                </a:solidFill>
                <a:latin typeface="Aptos"/>
              </a:rPr>
              <a:t>Two SQLite files on one machine are not independent failure domains; no backup workflow.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9788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244D3E"/>
                </a:solidFill>
                <a:latin typeface="Aptos"/>
              </a:rPr>
              <a:t>A useful next iteration: health probes + timeouts + idempotency + lag metrics + failure tests.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4D3E"/>
          </a:solidFill>
          <a:ln>
            <a:solidFill>
              <a:srgbClr val="24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75827A"/>
                </a:solidFill>
                <a:latin typeface="Aptos"/>
              </a:rPr>
              <a:t>FRAME BY FRAME  / 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244D3E"/>
                </a:solidFill>
                <a:latin typeface="Aptos Display"/>
              </a:rPr>
              <a:t>Possible next development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47104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75827A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2971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44D3E"/>
                </a:solidFill>
                <a:latin typeface="Aptos"/>
              </a:rPr>
              <a:t>Backend health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1325880"/>
            <a:ext cx="7223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A342F"/>
                </a:solidFill>
                <a:latin typeface="Aptos"/>
              </a:rPr>
              <a:t>Stop routing new connections to an unavailable application server.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39"/>
            <a:ext cx="2971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44D3E"/>
                </a:solidFill>
                <a:latin typeface="Aptos"/>
              </a:rPr>
              <a:t>Bounded timeouts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377439"/>
            <a:ext cx="7223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A342F"/>
                </a:solidFill>
                <a:latin typeface="Aptos"/>
              </a:rPr>
              <a:t>Return predictable errors when a downstream socket is slow or unreachable.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2971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44D3E"/>
                </a:solidFill>
                <a:latin typeface="Aptos"/>
              </a:rPr>
              <a:t>Durable replication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3429000"/>
            <a:ext cx="7223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A342F"/>
                </a:solidFill>
                <a:latin typeface="Aptos"/>
              </a:rPr>
              <a:t>Persist queued updates so a database-process restart does not discard them.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80559"/>
            <a:ext cx="2971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44D3E"/>
                </a:solidFill>
                <a:latin typeface="Aptos"/>
              </a:rPr>
              <a:t>Automated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4480559"/>
            <a:ext cx="7223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2A342F"/>
                </a:solidFill>
                <a:latin typeface="Aptos"/>
              </a:rPr>
              <a:t>Cover authentication, socket errors, replica lag, and follow/feed behaviour.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4D3E"/>
          </a:solidFill>
          <a:ln>
            <a:solidFill>
              <a:srgbClr val="244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75827A"/>
                </a:solidFill>
                <a:latin typeface="Aptos"/>
              </a:rPr>
              <a:t>FRAME BY FRAME  / 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t>References and project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47104"/>
            <a:ext cx="731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75827A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44D3E"/>
                </a:solidFill>
                <a:latin typeface="Aptos"/>
              </a:rPr>
              <a:t>OFFICIAL PRODUCT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53035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42F"/>
                </a:solidFill>
                <a:latin typeface="Aptos"/>
              </a:rPr>
              <a:t>Letterboxd — letterboxd.com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42F"/>
                </a:solidFill>
                <a:latin typeface="Aptos"/>
              </a:rPr>
              <a:t>Letterboxd About — letterboxd.com/about/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42F"/>
                </a:solidFill>
                <a:latin typeface="Aptos"/>
              </a:rPr>
              <a:t>Letterboxd API information — letterboxd.com/api-beta/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42F"/>
                </a:solidFill>
                <a:latin typeface="Aptos"/>
              </a:rPr>
              <a:t>Letterboxd Help — letterboxd.com/help/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41732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44D3E"/>
                </a:solidFill>
                <a:latin typeface="Aptos"/>
              </a:rPr>
              <a:t>TECHNICAL REFERENCE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874519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42F"/>
                </a:solidFill>
                <a:latin typeface="Aptos"/>
              </a:rPr>
              <a:t>TMDB developer docs — developer.themoviedb.org/docs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A342F"/>
                </a:solidFill>
                <a:latin typeface="Aptos"/>
              </a:rPr>
              <a:t>(API reference only; not evidence of Letterboxd's stack.)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10744200" cy="1234440"/>
          </a:xfrm>
          <a:prstGeom prst="roundRect">
            <a:avLst/>
          </a:prstGeom>
          <a:solidFill>
            <a:srgbClr val="EEF3E9"/>
          </a:solidFill>
          <a:ln>
            <a:solidFill>
              <a:srgbClr val="EEF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315968"/>
            <a:ext cx="10195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t>The public product references do not provide a detailed deployment diagram. The architecture presented here describes this project's implementation.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963</Words>
  <Application>Microsoft Office PowerPoint</Application>
  <PresentationFormat>Widescreen</PresentationFormat>
  <Paragraphs>152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Frame by Frame - Letterboxd-inspired Mini Project</dc:title>
  <dc:subject/>
  <dc:creator>Srinidh</dc:creator>
  <cp:keywords/>
  <dc:description>generated using python-pptx</dc:description>
  <cp:lastModifiedBy>Srinidh Ameerpeta</cp:lastModifiedBy>
  <cp:revision>2</cp:revision>
  <dcterms:created xsi:type="dcterms:W3CDTF">2013-01-27T09:14:16Z</dcterms:created>
  <dcterms:modified xsi:type="dcterms:W3CDTF">2026-10-10T14:26:59Z</dcterms:modified>
  <cp:category/>
</cp:coreProperties>
</file>